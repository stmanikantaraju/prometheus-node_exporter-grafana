
<file path=[Content_Types].xml><?xml version="1.0" encoding="utf-8"?>
<Types xmlns="http://schemas.openxmlformats.org/package/2006/content-types">
  <Default Extension="8dFSFwn6ItRgaoYEto3QvkJ0ms5X77SAWQMTcjP-F1Y" ContentType="image/pn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05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24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://computerconciergeny.blogspot.com/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8dFSFwn6ItRgaoYEto3QvkJ0ms5X77SAWQMTcjP-F1Y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Prometheus &amp;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C832"/>
                </a:solidFill>
              </a:defRPr>
            </a:pPr>
            <a:r>
              <a:t>Monitoring &amp; Observability Stack</a:t>
            </a:r>
          </a:p>
        </p:txBody>
      </p:sp>
      <p:pic>
        <p:nvPicPr>
          <p:cNvPr id="6" name="Picture 5" descr="Prometheus Monitoring OSS | Store large amounts of metrics">
            <a:extLst>
              <a:ext uri="{FF2B5EF4-FFF2-40B4-BE49-F238E27FC236}">
                <a16:creationId xmlns:a16="http://schemas.microsoft.com/office/drawing/2014/main" id="{4D81902E-9FA8-1F71-532F-9BEB9F572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2288357" y="1435262"/>
            <a:ext cx="1513078" cy="1571612"/>
          </a:xfrm>
          <a:prstGeom prst="rect">
            <a:avLst/>
          </a:prstGeom>
        </p:spPr>
      </p:pic>
      <p:pic>
        <p:nvPicPr>
          <p:cNvPr id="8" name="Picture 7" descr="Prometheus Monitoring OSS | Store large amounts of metrics">
            <a:extLst>
              <a:ext uri="{FF2B5EF4-FFF2-40B4-BE49-F238E27FC236}">
                <a16:creationId xmlns:a16="http://schemas.microsoft.com/office/drawing/2014/main" id="{82AEE419-DEB8-15CE-6035-553E41465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92" b="100000" l="63925" r="100000"/>
                    </a14:imgEffect>
                  </a14:imgLayer>
                </a14:imgProps>
              </a:ext>
            </a:extLst>
          </a:blip>
          <a:srcRect l="63083" t="3723"/>
          <a:stretch>
            <a:fillRect/>
          </a:stretch>
        </p:blipFill>
        <p:spPr>
          <a:xfrm>
            <a:off x="6252722" y="1435262"/>
            <a:ext cx="1375525" cy="14908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rometheus Monitoring OSS | Store large amounts of metrics">
            <a:extLst>
              <a:ext uri="{FF2B5EF4-FFF2-40B4-BE49-F238E27FC236}">
                <a16:creationId xmlns:a16="http://schemas.microsoft.com/office/drawing/2014/main" id="{86878AB3-8DEC-6C84-818C-E2B9E068F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4096909" y="1989236"/>
            <a:ext cx="1814494" cy="1884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6A431E-00CD-2336-6D60-AB5D50719C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88120" y="2587144"/>
            <a:ext cx="2142455" cy="1454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66467-065D-60DF-0F32-D8EAD5AEE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8968" r="13511"/>
          <a:stretch>
            <a:fillRect/>
          </a:stretch>
        </p:blipFill>
        <p:spPr>
          <a:xfrm>
            <a:off x="5911403" y="1932496"/>
            <a:ext cx="2820224" cy="2469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932C77-F55B-3AC3-F2F8-17E7C5EEE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88120" y="4677591"/>
            <a:ext cx="2142455" cy="1454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4E6E28-4ACD-6FEC-6F42-34E4CF5E73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88120" y="447837"/>
            <a:ext cx="2142455" cy="14544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B32180-0FA6-C275-4F36-991C7D9DFBC4}"/>
              </a:ext>
            </a:extLst>
          </p:cNvPr>
          <p:cNvSpPr txBox="1"/>
          <p:nvPr/>
        </p:nvSpPr>
        <p:spPr>
          <a:xfrm>
            <a:off x="726139" y="1791226"/>
            <a:ext cx="1578189" cy="229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Worker node 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90AAA-1757-D23F-98EE-063C040C8784}"/>
              </a:ext>
            </a:extLst>
          </p:cNvPr>
          <p:cNvSpPr txBox="1"/>
          <p:nvPr/>
        </p:nvSpPr>
        <p:spPr>
          <a:xfrm>
            <a:off x="726138" y="3926970"/>
            <a:ext cx="157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Worker node 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70058-E7B4-A4AD-9EC8-7E6A1B2F45E1}"/>
              </a:ext>
            </a:extLst>
          </p:cNvPr>
          <p:cNvSpPr txBox="1"/>
          <p:nvPr/>
        </p:nvSpPr>
        <p:spPr>
          <a:xfrm>
            <a:off x="726137" y="6017417"/>
            <a:ext cx="157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Worker node 3</a:t>
            </a:r>
            <a:endParaRPr lang="en-US" dirty="0"/>
          </a:p>
        </p:txBody>
      </p:sp>
      <p:pic>
        <p:nvPicPr>
          <p:cNvPr id="14" name="Picture 13" descr="Prometheus Monitoring OSS | Store large amounts of metrics">
            <a:extLst>
              <a:ext uri="{FF2B5EF4-FFF2-40B4-BE49-F238E27FC236}">
                <a16:creationId xmlns:a16="http://schemas.microsoft.com/office/drawing/2014/main" id="{02B19024-7CAE-89D7-0993-5255393011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292" b="100000" l="63925" r="100000"/>
                    </a14:imgEffect>
                  </a14:imgLayer>
                </a14:imgProps>
              </a:ext>
            </a:extLst>
          </a:blip>
          <a:srcRect l="63083" t="3723"/>
          <a:stretch>
            <a:fillRect/>
          </a:stretch>
        </p:blipFill>
        <p:spPr>
          <a:xfrm>
            <a:off x="6545022" y="2499468"/>
            <a:ext cx="616283" cy="66793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2AAAAD-04B9-5396-2488-48C83126F6CC}"/>
              </a:ext>
            </a:extLst>
          </p:cNvPr>
          <p:cNvCxnSpPr/>
          <p:nvPr/>
        </p:nvCxnSpPr>
        <p:spPr>
          <a:xfrm flipH="1" flipV="1">
            <a:off x="2519082" y="1524000"/>
            <a:ext cx="1792942" cy="815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4F75B6-62D3-E33C-8CD1-AB0EFEE3C899}"/>
              </a:ext>
            </a:extLst>
          </p:cNvPr>
          <p:cNvCxnSpPr>
            <a:cxnSpLocks/>
          </p:cNvCxnSpPr>
          <p:nvPr/>
        </p:nvCxnSpPr>
        <p:spPr>
          <a:xfrm flipH="1" flipV="1">
            <a:off x="2564053" y="3024606"/>
            <a:ext cx="1469939" cy="86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7E7A8B-7063-BC03-0E79-024C1C97D7C1}"/>
              </a:ext>
            </a:extLst>
          </p:cNvPr>
          <p:cNvCxnSpPr>
            <a:cxnSpLocks/>
          </p:cNvCxnSpPr>
          <p:nvPr/>
        </p:nvCxnSpPr>
        <p:spPr>
          <a:xfrm flipH="1">
            <a:off x="2463834" y="3747368"/>
            <a:ext cx="2108166" cy="133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55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Monitoring: Collecting and analyzing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Observability: Understanding system behavior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Why it matters: Early issue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Key components: Metrics, Logs, Traces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Perfect for: Complex distributed systems</a:t>
            </a:r>
          </a:p>
        </p:txBody>
      </p:sp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968E4C15-456F-2A50-92B6-DB850701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10" t="16065" b="48552"/>
          <a:stretch>
            <a:fillRect/>
          </a:stretch>
        </p:blipFill>
        <p:spPr>
          <a:xfrm>
            <a:off x="295531" y="3669617"/>
            <a:ext cx="8475220" cy="19442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What is Prometheus?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Open-source monitoring and alerting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Time-series database for metrics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Pull-based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Lightweight, reliable, and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Perfect for containerized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• Active community and ecosystem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D8C13D98-1EA7-01A9-0ECA-D90CCCAE4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6263838" y="1435260"/>
            <a:ext cx="2148642" cy="2231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Prometheus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Prometheus Server: Collects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Service Discovery: Finds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Exporters: Expose metrics from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Alertmanager: Handles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Pushgateway: Batch job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Client Libraries: Direct instrumentation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Prometheus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PromQL query language for data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Multi-dimensional time-series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Pull-based metric collection (HTTP)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Built-in data retention and compression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Service discovery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Recording and alerting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Highly scalable and efficient storage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ED3E1FD7-9CCA-6926-C520-9300D772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5625446" y="1371600"/>
            <a:ext cx="2340204" cy="2430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What is Grafana?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Open-source visualization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Real-time dashboarding and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Supports multiple data 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Beautiful, interactive visualizations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Powerful alerting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Enterprise-ready with RBAC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352D9221-2944-413C-A9E9-9EEB4410B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92" b="100000" l="63925" r="100000"/>
                    </a14:imgEffect>
                  </a14:imgLayer>
                </a14:imgProps>
              </a:ext>
            </a:extLst>
          </a:blip>
          <a:srcRect l="63083" t="3723"/>
          <a:stretch>
            <a:fillRect/>
          </a:stretch>
        </p:blipFill>
        <p:spPr>
          <a:xfrm>
            <a:off x="5533534" y="1435263"/>
            <a:ext cx="2292676" cy="2484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Grafana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20+ visualization types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Variables and templating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Advanced alert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User management and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Dashboard versioning and annotations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Plugin ecosystem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REST API for automation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0CB0167F-4072-86B0-9701-2001C9071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92" b="100000" l="63925" r="100000"/>
                    </a14:imgEffect>
                  </a14:imgLayer>
                </a14:imgProps>
              </a:ext>
            </a:extLst>
          </a:blip>
          <a:srcRect l="63083" t="3723"/>
          <a:stretch>
            <a:fillRect/>
          </a:stretch>
        </p:blipFill>
        <p:spPr>
          <a:xfrm>
            <a:off x="5533534" y="1435263"/>
            <a:ext cx="2292676" cy="24848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Prometheus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Time-series: metric_name{label1=value1}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Labels: Dimensional data (env, service)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Sample: Data point with timestamp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Metric Types: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Counter: Always increasing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Gauge: Can go up/down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Histogram: Value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Summary: Histogram with quantiles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PromQL - Query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Instant vector: Current values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Range vector: Values over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Scalar: Single numeric value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Example queries: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rate(requests_total[5m])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sum(container_memory_usage_bytes)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histogram_quantile(0.95, latency)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CFEEB6E1-CE85-9F71-F340-732BCD425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5625446" y="1371600"/>
            <a:ext cx="2340204" cy="24307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Integration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Prometheus collects metrics from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Grafana connects to Prometheus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Query Prometheus through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Alerts from Prometheus trigger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Alertmanager routes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Workflow: Collect → Store → Visualize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901" y="1371599"/>
            <a:ext cx="3586899" cy="35868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Kubernetes monitoring: Pods, nodes, clusters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Microservices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Infrastructure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Application Performance Monitoring (APM)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Cost optimization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SLA/SLO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Security monitoring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Prometheus vs Grafana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Prometheus: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Time-series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PromQL query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Pull-based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Built-in alerting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Grafana: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Visualization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Multiple data 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Beautiful UI/UX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✓ Advanced alerting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D04707E6-ABA8-422C-87CF-AEAA908C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92" b="100000" l="63925" r="100000"/>
                    </a14:imgEffect>
                  </a14:imgLayer>
                </a14:imgProps>
              </a:ext>
            </a:extLst>
          </a:blip>
          <a:srcRect l="63083" t="3723"/>
          <a:stretch>
            <a:fillRect/>
          </a:stretch>
        </p:blipFill>
        <p:spPr>
          <a:xfrm>
            <a:off x="5760720" y="1470646"/>
            <a:ext cx="2292676" cy="24848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Deployment &amp;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High availability: Multiple instances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Retention policy: Balance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Service discovery: Automate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Security: Authentication &amp;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Performance: Recording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Scaling: Remote storage for long-term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Monitoring: Monitor Prometheus itself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5" y="1371599"/>
            <a:ext cx="3982825" cy="3982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Common 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Cardinality explosion: Limit combinations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Storage management: Set retention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Query performance: Use recording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Alert fatigue: Fine-tune thresholds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Missing metrics: Proper instrumentation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Data consistency: Reliable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Skill gap: Team training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Prometheus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Exporters: Node, MySQL, PostgreSQL, Redis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Service Discovery: K8s, Consul, AWS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Remote Storage: Cortex, Thanos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Dashboard Templates: Community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Recording Rules: Pre-computed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Client Libraries: All major languages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Community: Active and supportive</a:t>
            </a:r>
          </a:p>
        </p:txBody>
      </p:sp>
      <p:pic>
        <p:nvPicPr>
          <p:cNvPr id="7" name="Picture 6" descr="Prometheus Monitoring OSS | Store large amounts of metrics">
            <a:extLst>
              <a:ext uri="{FF2B5EF4-FFF2-40B4-BE49-F238E27FC236}">
                <a16:creationId xmlns:a16="http://schemas.microsoft.com/office/drawing/2014/main" id="{68819C21-B73D-D655-4471-C9E39B7C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5625446" y="1371600"/>
            <a:ext cx="2340204" cy="24307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1. Install Prometheus 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2. Configure targets and scrape configs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3. Install Node Exporter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4. Start Prometheus (localhost:9090)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5. Install and configure Grafana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6. Add Prometheus as data source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7. Create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8. Set up alerting rules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56" y="1371600"/>
            <a:ext cx="3954544" cy="39545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4647" y="2814845"/>
            <a:ext cx="515470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FC832"/>
                </a:solidFill>
              </a:defRPr>
            </a:pPr>
            <a:r>
              <a:rPr dirty="0"/>
              <a:t>✓ Prometheus: Robust metrics collection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FC832"/>
                </a:solidFill>
              </a:defRPr>
            </a:pPr>
            <a:r>
              <a:rPr dirty="0"/>
              <a:t>✓ Grafana: Beautiful visualization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FC832"/>
                </a:solidFill>
              </a:defRPr>
            </a:pPr>
            <a:r>
              <a:rPr dirty="0"/>
              <a:t>✓ Together: Complete monitoring solution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FC832"/>
                </a:solidFill>
              </a:defRPr>
            </a:pPr>
            <a:r>
              <a:rPr dirty="0"/>
              <a:t>✓ Open-source: Cost-effective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FC832"/>
                </a:solidFill>
              </a:defRPr>
            </a:pPr>
            <a:r>
              <a:rPr dirty="0"/>
              <a:t>✓ Industry standard: Widely adopted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FC832"/>
                </a:solidFill>
              </a:defRPr>
            </a:pPr>
            <a:r>
              <a:rPr dirty="0"/>
              <a:t>✓ Future-ready: Cloud-native systems</a:t>
            </a:r>
          </a:p>
        </p:txBody>
      </p:sp>
      <p:pic>
        <p:nvPicPr>
          <p:cNvPr id="6" name="Picture 5" descr="Prometheus Monitoring OSS | Store large amounts of metrics">
            <a:extLst>
              <a:ext uri="{FF2B5EF4-FFF2-40B4-BE49-F238E27FC236}">
                <a16:creationId xmlns:a16="http://schemas.microsoft.com/office/drawing/2014/main" id="{FD83C5DE-8F37-C271-1E9C-4515EC9A2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9653" l="0" r="38240"/>
                    </a14:imgEffect>
                  </a14:imgLayer>
                </a14:imgProps>
              </a:ext>
            </a:extLst>
          </a:blip>
          <a:srcRect l="-1" t="7732" r="63084"/>
          <a:stretch>
            <a:fillRect/>
          </a:stretch>
        </p:blipFill>
        <p:spPr>
          <a:xfrm>
            <a:off x="725864" y="315798"/>
            <a:ext cx="2340204" cy="2430735"/>
          </a:xfrm>
          <a:prstGeom prst="rect">
            <a:avLst/>
          </a:prstGeom>
        </p:spPr>
      </p:pic>
      <p:pic>
        <p:nvPicPr>
          <p:cNvPr id="8" name="Picture 7" descr="Prometheus Monitoring OSS | Store large amounts of metrics">
            <a:extLst>
              <a:ext uri="{FF2B5EF4-FFF2-40B4-BE49-F238E27FC236}">
                <a16:creationId xmlns:a16="http://schemas.microsoft.com/office/drawing/2014/main" id="{DFAE5BC8-EA83-7274-B9BE-4203B3E19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92" b="100000" l="63925" r="100000"/>
                    </a14:imgEffect>
                  </a14:imgLayer>
                </a14:imgProps>
              </a:ext>
            </a:extLst>
          </a:blip>
          <a:srcRect l="63083" t="3723"/>
          <a:stretch>
            <a:fillRect/>
          </a:stretch>
        </p:blipFill>
        <p:spPr>
          <a:xfrm>
            <a:off x="5936923" y="330003"/>
            <a:ext cx="2292676" cy="2484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5C824A-7D97-67A2-337D-8711D0052F0C}"/>
              </a:ext>
            </a:extLst>
          </p:cNvPr>
          <p:cNvSpPr txBox="1"/>
          <p:nvPr/>
        </p:nvSpPr>
        <p:spPr>
          <a:xfrm>
            <a:off x="4102187" y="703144"/>
            <a:ext cx="7986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b="1" dirty="0"/>
              <a:t>+</a:t>
            </a:r>
            <a:endParaRPr lang="en-US" sz="9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705</Words>
  <Application>Microsoft Office PowerPoint</Application>
  <PresentationFormat>On-screen Show (4:3)</PresentationFormat>
  <Paragraphs>132</Paragraphs>
  <Slides>18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Manikanta Raju</cp:lastModifiedBy>
  <cp:revision>8</cp:revision>
  <dcterms:created xsi:type="dcterms:W3CDTF">2013-01-27T09:14:16Z</dcterms:created>
  <dcterms:modified xsi:type="dcterms:W3CDTF">2026-10-09T09:09:36Z</dcterms:modified>
  <cp:category/>
</cp:coreProperties>
</file>